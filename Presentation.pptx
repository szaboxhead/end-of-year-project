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2" r:id="rId4"/>
    <p:sldId id="263" r:id="rId5"/>
    <p:sldId id="264" r:id="rId6"/>
    <p:sldId id="265" r:id="rId7"/>
    <p:sldId id="259" r:id="rId8"/>
    <p:sldId id="260" r:id="rId9"/>
    <p:sldId id="261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32" y="17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1652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21510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636988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25043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653822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42870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40532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45308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3414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986050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55735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631169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766955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06950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292950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997051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5582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46E491F-C00B-41BB-9BAC-BA8D0A91A9AB}" type="datetimeFigureOut">
              <a:rPr lang="hu-HU" smtClean="0"/>
              <a:t>2025. 05. 26.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5C29498A-D895-49DC-A7F0-2F667BC64B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7011065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6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ottbuckley.com.au/library/" TargetMode="External"/><Relationship Id="rId2" Type="http://schemas.openxmlformats.org/officeDocument/2006/relationships/hyperlink" Target="https://soundimage.org/" TargetMode="Externa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1.jp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5325EA-AD71-4EAC-BE71-B5E0D57F49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2362199"/>
          </a:xfrm>
        </p:spPr>
        <p:txBody>
          <a:bodyPr/>
          <a:lstStyle/>
          <a:p>
            <a:r>
              <a:rPr lang="hu-HU" dirty="0"/>
              <a:t>End of Year project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A7FEC60-D1CB-4A69-8E12-ED34E14A2FE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 err="1"/>
              <a:t>By</a:t>
            </a:r>
            <a:r>
              <a:rPr lang="hu-HU" dirty="0"/>
              <a:t>: Temesi Szabolcs István &amp; Szabó Levente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E61B7FC-1B57-4F62-8354-F83F46FEED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7704" y="2714336"/>
            <a:ext cx="7956591" cy="142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932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2F57C5F-3649-4D18-B433-ABBC60200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Project information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BC33459-F3D4-4C2E-892C-94C86B22AB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Time Investment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0F45660-F7D8-402E-A3D2-FF7A0052DB7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dirty="0"/>
              <a:t>Start: 2024 September</a:t>
            </a:r>
          </a:p>
          <a:p>
            <a:r>
              <a:rPr lang="en-AU" dirty="0"/>
              <a:t>End: 2025 May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F6E3703-DD05-4445-BD89-1246CD313A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Programs used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35A88C84-A1CF-401D-B7DF-9E6A9FD9745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/>
              <a:t>Visual Studio Code</a:t>
            </a:r>
          </a:p>
          <a:p>
            <a:r>
              <a:rPr lang="en-AU"/>
              <a:t>XAMPP</a:t>
            </a:r>
          </a:p>
          <a:p>
            <a:r>
              <a:rPr lang="en-AU"/>
              <a:t>paint.net</a:t>
            </a:r>
          </a:p>
          <a:p>
            <a:r>
              <a:rPr lang="en-AU"/>
              <a:t>ChatGPT</a:t>
            </a:r>
          </a:p>
          <a:p>
            <a:r>
              <a:rPr lang="en-AU"/>
              <a:t>Godot Engine</a:t>
            </a:r>
          </a:p>
          <a:p>
            <a:r>
              <a:rPr lang="en-AU"/>
              <a:t>Audacity</a:t>
            </a:r>
          </a:p>
          <a:p>
            <a:r>
              <a:rPr lang="en-AU"/>
              <a:t>Aseprite</a:t>
            </a:r>
          </a:p>
          <a:p>
            <a:endParaRPr lang="en-AU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74CE14A9-D3BB-47EC-AE98-470CC2D06D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4936" y="5733232"/>
            <a:ext cx="777518" cy="777518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76944F8B-EBEB-4837-AEE6-ED3347CBE5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1205" y="5742343"/>
            <a:ext cx="777518" cy="777518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CE973F9D-88F1-4A16-AB4C-8919575DE7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8723" y="5742343"/>
            <a:ext cx="777518" cy="777657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027F0CC4-2E73-4CC9-8D59-CC4F80937B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8131" y="5742344"/>
            <a:ext cx="777518" cy="777518"/>
          </a:xfrm>
          <a:prstGeom prst="rect">
            <a:avLst/>
          </a:prstGeo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0ADD010A-DA1B-4A5D-9F0D-4FDD2E5DA9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0612" y="5742343"/>
            <a:ext cx="777518" cy="768407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F4118AB3-4E5A-402E-80AD-08AC7DE20B3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0878" y="5742343"/>
            <a:ext cx="777518" cy="777518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462AB436-23DF-4BCD-BCC6-B69BF6A22EA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5742343"/>
            <a:ext cx="777518" cy="777518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C3C509A9-FD02-4E95-8104-63A5088F8E0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8200" y="4090189"/>
            <a:ext cx="4406276" cy="831373"/>
          </a:xfrm>
          <a:prstGeom prst="rect">
            <a:avLst/>
          </a:prstGeom>
        </p:spPr>
      </p:pic>
      <p:pic>
        <p:nvPicPr>
          <p:cNvPr id="26" name="Kép 25">
            <a:extLst>
              <a:ext uri="{FF2B5EF4-FFF2-40B4-BE49-F238E27FC236}">
                <a16:creationId xmlns:a16="http://schemas.microsoft.com/office/drawing/2014/main" id="{23B41A10-C1D8-48F8-8024-7FAE0D455AD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09359" y="4826515"/>
            <a:ext cx="2144755" cy="720375"/>
          </a:xfrm>
          <a:prstGeom prst="rect">
            <a:avLst/>
          </a:prstGeom>
        </p:spPr>
      </p:pic>
      <p:sp>
        <p:nvSpPr>
          <p:cNvPr id="27" name="Ellipszis 26">
            <a:extLst>
              <a:ext uri="{FF2B5EF4-FFF2-40B4-BE49-F238E27FC236}">
                <a16:creationId xmlns:a16="http://schemas.microsoft.com/office/drawing/2014/main" id="{B9404BAA-BD49-46CF-BCE9-2346F7B5ACCA}"/>
              </a:ext>
            </a:extLst>
          </p:cNvPr>
          <p:cNvSpPr/>
          <p:nvPr/>
        </p:nvSpPr>
        <p:spPr>
          <a:xfrm>
            <a:off x="4024539" y="4647035"/>
            <a:ext cx="166254" cy="16625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noFill/>
            </a:endParaRPr>
          </a:p>
        </p:txBody>
      </p:sp>
      <p:cxnSp>
        <p:nvCxnSpPr>
          <p:cNvPr id="29" name="Egyenes összekötő 28">
            <a:extLst>
              <a:ext uri="{FF2B5EF4-FFF2-40B4-BE49-F238E27FC236}">
                <a16:creationId xmlns:a16="http://schemas.microsoft.com/office/drawing/2014/main" id="{B63B5F32-25FE-4DEB-B9CF-B1AA0A2E640B}"/>
              </a:ext>
            </a:extLst>
          </p:cNvPr>
          <p:cNvCxnSpPr>
            <a:cxnSpLocks/>
            <a:stCxn id="27" idx="0"/>
          </p:cNvCxnSpPr>
          <p:nvPr/>
        </p:nvCxnSpPr>
        <p:spPr>
          <a:xfrm flipH="1" flipV="1">
            <a:off x="4024539" y="4036221"/>
            <a:ext cx="83127" cy="610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Szövegdoboz 29">
            <a:extLst>
              <a:ext uri="{FF2B5EF4-FFF2-40B4-BE49-F238E27FC236}">
                <a16:creationId xmlns:a16="http://schemas.microsoft.com/office/drawing/2014/main" id="{7D1DCC30-9556-4711-99FF-0223946B67EC}"/>
              </a:ext>
            </a:extLst>
          </p:cNvPr>
          <p:cNvSpPr txBox="1"/>
          <p:nvPr/>
        </p:nvSpPr>
        <p:spPr>
          <a:xfrm>
            <a:off x="3633424" y="3833711"/>
            <a:ext cx="9335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100" u="sng" dirty="0"/>
              <a:t>Start </a:t>
            </a:r>
            <a:r>
              <a:rPr lang="hu-HU" sz="1100" u="sng" dirty="0" err="1"/>
              <a:t>date</a:t>
            </a:r>
            <a:endParaRPr lang="hu-HU" sz="1100" u="sng" dirty="0"/>
          </a:p>
        </p:txBody>
      </p:sp>
      <p:sp>
        <p:nvSpPr>
          <p:cNvPr id="31" name="Szövegdoboz 30">
            <a:extLst>
              <a:ext uri="{FF2B5EF4-FFF2-40B4-BE49-F238E27FC236}">
                <a16:creationId xmlns:a16="http://schemas.microsoft.com/office/drawing/2014/main" id="{72E1C5CD-F33B-4B40-B51B-16CF27E7365D}"/>
              </a:ext>
            </a:extLst>
          </p:cNvPr>
          <p:cNvSpPr txBox="1"/>
          <p:nvPr/>
        </p:nvSpPr>
        <p:spPr>
          <a:xfrm rot="18137943">
            <a:off x="678689" y="4299218"/>
            <a:ext cx="722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/>
              <a:t>2024</a:t>
            </a:r>
          </a:p>
        </p:txBody>
      </p:sp>
      <p:sp>
        <p:nvSpPr>
          <p:cNvPr id="32" name="Szövegdoboz 31">
            <a:extLst>
              <a:ext uri="{FF2B5EF4-FFF2-40B4-BE49-F238E27FC236}">
                <a16:creationId xmlns:a16="http://schemas.microsoft.com/office/drawing/2014/main" id="{C5E2ED2A-F476-4D76-8698-F9729C34A03C}"/>
              </a:ext>
            </a:extLst>
          </p:cNvPr>
          <p:cNvSpPr txBox="1"/>
          <p:nvPr/>
        </p:nvSpPr>
        <p:spPr>
          <a:xfrm rot="17803016">
            <a:off x="659429" y="4937702"/>
            <a:ext cx="7653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/>
              <a:t>2025</a:t>
            </a:r>
          </a:p>
        </p:txBody>
      </p:sp>
      <p:sp>
        <p:nvSpPr>
          <p:cNvPr id="33" name="Ellipszis 32">
            <a:extLst>
              <a:ext uri="{FF2B5EF4-FFF2-40B4-BE49-F238E27FC236}">
                <a16:creationId xmlns:a16="http://schemas.microsoft.com/office/drawing/2014/main" id="{2ACE1EF0-4919-4314-A1D4-AE9DFFB3BA08}"/>
              </a:ext>
            </a:extLst>
          </p:cNvPr>
          <p:cNvSpPr/>
          <p:nvPr/>
        </p:nvSpPr>
        <p:spPr>
          <a:xfrm>
            <a:off x="2795548" y="5322850"/>
            <a:ext cx="166254" cy="16625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noFill/>
            </a:endParaRPr>
          </a:p>
        </p:txBody>
      </p:sp>
      <p:cxnSp>
        <p:nvCxnSpPr>
          <p:cNvPr id="34" name="Egyenes összekötő 33">
            <a:extLst>
              <a:ext uri="{FF2B5EF4-FFF2-40B4-BE49-F238E27FC236}">
                <a16:creationId xmlns:a16="http://schemas.microsoft.com/office/drawing/2014/main" id="{2657A635-EAC1-428F-BE37-43CA33D66DB4}"/>
              </a:ext>
            </a:extLst>
          </p:cNvPr>
          <p:cNvCxnSpPr>
            <a:cxnSpLocks/>
            <a:stCxn id="33" idx="6"/>
          </p:cNvCxnSpPr>
          <p:nvPr/>
        </p:nvCxnSpPr>
        <p:spPr>
          <a:xfrm flipV="1">
            <a:off x="2961802" y="5235319"/>
            <a:ext cx="538396" cy="1706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zövegdoboz 37">
            <a:extLst>
              <a:ext uri="{FF2B5EF4-FFF2-40B4-BE49-F238E27FC236}">
                <a16:creationId xmlns:a16="http://schemas.microsoft.com/office/drawing/2014/main" id="{8321C863-8270-4A53-8C2A-310AB9D13423}"/>
              </a:ext>
            </a:extLst>
          </p:cNvPr>
          <p:cNvSpPr txBox="1"/>
          <p:nvPr/>
        </p:nvSpPr>
        <p:spPr>
          <a:xfrm>
            <a:off x="3295576" y="5045097"/>
            <a:ext cx="9335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100" u="sng" dirty="0"/>
              <a:t>End </a:t>
            </a:r>
            <a:r>
              <a:rPr lang="hu-HU" sz="1100" u="sng" dirty="0" err="1"/>
              <a:t>date</a:t>
            </a:r>
            <a:endParaRPr lang="hu-HU" sz="1100" u="sng" dirty="0"/>
          </a:p>
        </p:txBody>
      </p:sp>
    </p:spTree>
    <p:extLst>
      <p:ext uri="{BB962C8B-B14F-4D97-AF65-F5344CB8AC3E}">
        <p14:creationId xmlns:p14="http://schemas.microsoft.com/office/powerpoint/2010/main" val="347460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"/>
                            </p:stCondLst>
                            <p:childTnLst>
                              <p:par>
                                <p:cTn id="3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750"/>
                            </p:stCondLst>
                            <p:childTnLst>
                              <p:par>
                                <p:cTn id="4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250"/>
                            </p:stCondLst>
                            <p:childTnLst>
                              <p:par>
                                <p:cTn id="5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500"/>
                            </p:stCondLst>
                            <p:childTnLst>
                              <p:par>
                                <p:cTn id="5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0" grpId="0"/>
      <p:bldP spid="33" grpId="0" animBg="1"/>
      <p:bldP spid="3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3EE28A0-C077-4733-A3D2-DADEE5AD1D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0094" y="3337"/>
            <a:ext cx="9144001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03387" y="150086"/>
            <a:ext cx="4787882" cy="756997"/>
          </a:xfrm>
        </p:spPr>
        <p:txBody>
          <a:bodyPr anchor="ctr">
            <a:no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Registration page</a:t>
            </a:r>
          </a:p>
        </p:txBody>
      </p:sp>
      <p:pic>
        <p:nvPicPr>
          <p:cNvPr id="17" name="Kép 16">
            <a:extLst>
              <a:ext uri="{FF2B5EF4-FFF2-40B4-BE49-F238E27FC236}">
                <a16:creationId xmlns:a16="http://schemas.microsoft.com/office/drawing/2014/main" id="{2DE93E4C-6A50-ECA9-042E-15EDE47FE5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64" r="75876"/>
          <a:stretch/>
        </p:blipFill>
        <p:spPr>
          <a:xfrm>
            <a:off x="1560095" y="331917"/>
            <a:ext cx="1962216" cy="373852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97758983-DE77-87B4-9B23-DAE4EBF4938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033" t="1688" r="41857" b="-1688"/>
          <a:stretch/>
        </p:blipFill>
        <p:spPr>
          <a:xfrm>
            <a:off x="7868977" y="345466"/>
            <a:ext cx="2835118" cy="373852"/>
          </a:xfrm>
          <a:prstGeom prst="rect">
            <a:avLst/>
          </a:prstGeom>
        </p:spPr>
      </p:pic>
      <p:sp>
        <p:nvSpPr>
          <p:cNvPr id="21" name="Szövegdoboz 20">
            <a:extLst>
              <a:ext uri="{FF2B5EF4-FFF2-40B4-BE49-F238E27FC236}">
                <a16:creationId xmlns:a16="http://schemas.microsoft.com/office/drawing/2014/main" id="{C6D1D62F-6CB2-6D75-D75F-55D3F58A12AC}"/>
              </a:ext>
            </a:extLst>
          </p:cNvPr>
          <p:cNvSpPr txBox="1"/>
          <p:nvPr/>
        </p:nvSpPr>
        <p:spPr>
          <a:xfrm>
            <a:off x="4570447" y="1723074"/>
            <a:ext cx="11090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You can </a:t>
            </a:r>
          </a:p>
        </p:txBody>
      </p:sp>
      <p:sp>
        <p:nvSpPr>
          <p:cNvPr id="22" name="Szövegdoboz 21">
            <a:extLst>
              <a:ext uri="{FF2B5EF4-FFF2-40B4-BE49-F238E27FC236}">
                <a16:creationId xmlns:a16="http://schemas.microsoft.com/office/drawing/2014/main" id="{363D7D8A-732D-D043-7067-23F6BF4C2E0C}"/>
              </a:ext>
            </a:extLst>
          </p:cNvPr>
          <p:cNvSpPr txBox="1"/>
          <p:nvPr/>
        </p:nvSpPr>
        <p:spPr>
          <a:xfrm>
            <a:off x="6994801" y="2153962"/>
            <a:ext cx="110908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here</a:t>
            </a:r>
          </a:p>
        </p:txBody>
      </p:sp>
      <p:sp>
        <p:nvSpPr>
          <p:cNvPr id="25" name="Szövegdoboz 24">
            <a:extLst>
              <a:ext uri="{FF2B5EF4-FFF2-40B4-BE49-F238E27FC236}">
                <a16:creationId xmlns:a16="http://schemas.microsoft.com/office/drawing/2014/main" id="{5C3DF5F2-EB68-3988-68F9-1C900C51665F}"/>
              </a:ext>
            </a:extLst>
          </p:cNvPr>
          <p:cNvSpPr txBox="1"/>
          <p:nvPr/>
        </p:nvSpPr>
        <p:spPr>
          <a:xfrm>
            <a:off x="4521287" y="875535"/>
            <a:ext cx="35362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It is available on these sites</a:t>
            </a:r>
          </a:p>
        </p:txBody>
      </p:sp>
      <p:sp>
        <p:nvSpPr>
          <p:cNvPr id="27" name="Nyíl: balra mutató 26">
            <a:extLst>
              <a:ext uri="{FF2B5EF4-FFF2-40B4-BE49-F238E27FC236}">
                <a16:creationId xmlns:a16="http://schemas.microsoft.com/office/drawing/2014/main" id="{03557B6D-A4C7-48CB-EF74-733334E9E6A4}"/>
              </a:ext>
            </a:extLst>
          </p:cNvPr>
          <p:cNvSpPr/>
          <p:nvPr/>
        </p:nvSpPr>
        <p:spPr>
          <a:xfrm rot="9382857">
            <a:off x="7661699" y="835141"/>
            <a:ext cx="808242" cy="275454"/>
          </a:xfrm>
          <a:prstGeom prst="lef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8" name="Nyíl: balra mutató 27">
            <a:extLst>
              <a:ext uri="{FF2B5EF4-FFF2-40B4-BE49-F238E27FC236}">
                <a16:creationId xmlns:a16="http://schemas.microsoft.com/office/drawing/2014/main" id="{DDF1B416-59B6-A391-BC31-3746049418FB}"/>
              </a:ext>
            </a:extLst>
          </p:cNvPr>
          <p:cNvSpPr/>
          <p:nvPr/>
        </p:nvSpPr>
        <p:spPr>
          <a:xfrm rot="1221014">
            <a:off x="3489695" y="820923"/>
            <a:ext cx="1058935" cy="275454"/>
          </a:xfrm>
          <a:prstGeom prst="lef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9" name="Szövegdoboz 28">
            <a:extLst>
              <a:ext uri="{FF2B5EF4-FFF2-40B4-BE49-F238E27FC236}">
                <a16:creationId xmlns:a16="http://schemas.microsoft.com/office/drawing/2014/main" id="{8BE0A18A-30D8-DA6F-68CA-C17F3DF9BE7B}"/>
              </a:ext>
            </a:extLst>
          </p:cNvPr>
          <p:cNvSpPr txBox="1"/>
          <p:nvPr/>
        </p:nvSpPr>
        <p:spPr>
          <a:xfrm>
            <a:off x="4046009" y="6259758"/>
            <a:ext cx="49054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In case you already have an account </a:t>
            </a:r>
          </a:p>
        </p:txBody>
      </p:sp>
      <p:sp>
        <p:nvSpPr>
          <p:cNvPr id="30" name="Nyíl: balra mutató 29">
            <a:extLst>
              <a:ext uri="{FF2B5EF4-FFF2-40B4-BE49-F238E27FC236}">
                <a16:creationId xmlns:a16="http://schemas.microsoft.com/office/drawing/2014/main" id="{8FAB9889-6DD7-5D07-F792-9D351F043474}"/>
              </a:ext>
            </a:extLst>
          </p:cNvPr>
          <p:cNvSpPr/>
          <p:nvPr/>
        </p:nvSpPr>
        <p:spPr>
          <a:xfrm rot="2101656">
            <a:off x="7291978" y="5948826"/>
            <a:ext cx="760919" cy="256376"/>
          </a:xfrm>
          <a:prstGeom prst="lef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1" name="Szövegdoboz 30">
            <a:extLst>
              <a:ext uri="{FF2B5EF4-FFF2-40B4-BE49-F238E27FC236}">
                <a16:creationId xmlns:a16="http://schemas.microsoft.com/office/drawing/2014/main" id="{8E834285-8723-204E-0B31-4684A4F699E3}"/>
              </a:ext>
            </a:extLst>
          </p:cNvPr>
          <p:cNvSpPr txBox="1"/>
          <p:nvPr/>
        </p:nvSpPr>
        <p:spPr>
          <a:xfrm>
            <a:off x="1919940" y="3366386"/>
            <a:ext cx="24024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Simple input fields</a:t>
            </a:r>
          </a:p>
        </p:txBody>
      </p:sp>
      <p:sp>
        <p:nvSpPr>
          <p:cNvPr id="32" name="Szövegdoboz 31">
            <a:extLst>
              <a:ext uri="{FF2B5EF4-FFF2-40B4-BE49-F238E27FC236}">
                <a16:creationId xmlns:a16="http://schemas.microsoft.com/office/drawing/2014/main" id="{695494DF-8ED4-9C7F-A650-2B07E954F69F}"/>
              </a:ext>
            </a:extLst>
          </p:cNvPr>
          <p:cNvSpPr txBox="1"/>
          <p:nvPr/>
        </p:nvSpPr>
        <p:spPr>
          <a:xfrm>
            <a:off x="7640372" y="3518093"/>
            <a:ext cx="291742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Option to make your password visible and to hide again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BA9AF-FB4F-1E02-D9D7-AE28FA759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Kép 23">
            <a:extLst>
              <a:ext uri="{FF2B5EF4-FFF2-40B4-BE49-F238E27FC236}">
                <a16:creationId xmlns:a16="http://schemas.microsoft.com/office/drawing/2014/main" id="{D0E5B9BB-9522-6A2D-6282-ABAE6E77B4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119"/>
          <a:stretch/>
        </p:blipFill>
        <p:spPr>
          <a:xfrm>
            <a:off x="4513992" y="18529"/>
            <a:ext cx="6154009" cy="5735143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F4627595-F374-B069-C5D8-635E7F641B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67"/>
          <a:stretch/>
        </p:blipFill>
        <p:spPr>
          <a:xfrm>
            <a:off x="1522835" y="-53652"/>
            <a:ext cx="4192201" cy="5391902"/>
          </a:xfrm>
          <a:prstGeom prst="rect">
            <a:avLst/>
          </a:prstGeom>
        </p:spPr>
      </p:pic>
      <p:sp>
        <p:nvSpPr>
          <p:cNvPr id="31" name="Szövegdoboz 30">
            <a:extLst>
              <a:ext uri="{FF2B5EF4-FFF2-40B4-BE49-F238E27FC236}">
                <a16:creationId xmlns:a16="http://schemas.microsoft.com/office/drawing/2014/main" id="{546CD304-F64E-5831-504A-7829F848479A}"/>
              </a:ext>
            </a:extLst>
          </p:cNvPr>
          <p:cNvSpPr txBox="1"/>
          <p:nvPr/>
        </p:nvSpPr>
        <p:spPr>
          <a:xfrm>
            <a:off x="5446537" y="2478335"/>
            <a:ext cx="25132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000" b="1" dirty="0"/>
              <a:t>Simple input fields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A02EBD75-BC30-A19A-D011-AB0A94068A8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803"/>
          <a:stretch/>
        </p:blipFill>
        <p:spPr>
          <a:xfrm>
            <a:off x="1950899" y="68942"/>
            <a:ext cx="2604399" cy="342850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183DC239-5077-AF46-126C-75482B2888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3418" y="5338250"/>
            <a:ext cx="9144000" cy="1536252"/>
          </a:xfrm>
          <a:prstGeom prst="rect">
            <a:avLst/>
          </a:prstGeom>
        </p:spPr>
      </p:pic>
      <p:sp>
        <p:nvSpPr>
          <p:cNvPr id="25" name="Szövegdoboz 24">
            <a:extLst>
              <a:ext uri="{FF2B5EF4-FFF2-40B4-BE49-F238E27FC236}">
                <a16:creationId xmlns:a16="http://schemas.microsoft.com/office/drawing/2014/main" id="{07EC3BFD-1941-197E-7D43-D15A55D90C14}"/>
              </a:ext>
            </a:extLst>
          </p:cNvPr>
          <p:cNvSpPr txBox="1"/>
          <p:nvPr/>
        </p:nvSpPr>
        <p:spPr>
          <a:xfrm>
            <a:off x="1819727" y="314465"/>
            <a:ext cx="3241646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100" b="1" dirty="0"/>
              <a:t>It is </a:t>
            </a:r>
            <a:r>
              <a:rPr lang="en-US" sz="2000" b="1" dirty="0"/>
              <a:t>available</a:t>
            </a:r>
            <a:r>
              <a:rPr lang="en-US" sz="2100" b="1" dirty="0"/>
              <a:t> on this site</a:t>
            </a:r>
          </a:p>
        </p:txBody>
      </p:sp>
      <p:sp>
        <p:nvSpPr>
          <p:cNvPr id="22" name="Szövegdoboz 21">
            <a:extLst>
              <a:ext uri="{FF2B5EF4-FFF2-40B4-BE49-F238E27FC236}">
                <a16:creationId xmlns:a16="http://schemas.microsoft.com/office/drawing/2014/main" id="{CA90F15C-AA68-FD16-1920-3C936052AF7B}"/>
              </a:ext>
            </a:extLst>
          </p:cNvPr>
          <p:cNvSpPr txBox="1"/>
          <p:nvPr/>
        </p:nvSpPr>
        <p:spPr>
          <a:xfrm>
            <a:off x="4141376" y="1918261"/>
            <a:ext cx="9199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1" dirty="0"/>
              <a:t>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5DF5F3-1B76-A87D-CD62-E81951A1A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36602" y="-343284"/>
            <a:ext cx="5617403" cy="1229510"/>
          </a:xfrm>
        </p:spPr>
        <p:txBody>
          <a:bodyPr anchor="ctr">
            <a:normAutofit/>
          </a:bodyPr>
          <a:lstStyle/>
          <a:p>
            <a:pPr algn="l"/>
            <a:r>
              <a:rPr lang="en-US" sz="2800" b="1" dirty="0">
                <a:solidFill>
                  <a:schemeClr val="tx1"/>
                </a:solidFill>
              </a:rPr>
              <a:t>Login &amp; Password reset </a:t>
            </a:r>
            <a:r>
              <a:rPr lang="en-US" sz="2400" b="1" dirty="0">
                <a:solidFill>
                  <a:schemeClr val="tx1"/>
                </a:solidFill>
              </a:rPr>
              <a:t>page</a:t>
            </a:r>
            <a:endParaRPr lang="en-US" sz="2800" b="1" dirty="0">
              <a:solidFill>
                <a:schemeClr val="tx1"/>
              </a:solidFill>
            </a:endParaRPr>
          </a:p>
        </p:txBody>
      </p:sp>
      <p:sp>
        <p:nvSpPr>
          <p:cNvPr id="21" name="Szövegdoboz 20">
            <a:extLst>
              <a:ext uri="{FF2B5EF4-FFF2-40B4-BE49-F238E27FC236}">
                <a16:creationId xmlns:a16="http://schemas.microsoft.com/office/drawing/2014/main" id="{EAFF1757-C098-8545-9FFE-8B9B43517D03}"/>
              </a:ext>
            </a:extLst>
          </p:cNvPr>
          <p:cNvSpPr txBox="1"/>
          <p:nvPr/>
        </p:nvSpPr>
        <p:spPr>
          <a:xfrm>
            <a:off x="1385145" y="1130025"/>
            <a:ext cx="12315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000" b="1" dirty="0"/>
              <a:t>You can </a:t>
            </a:r>
          </a:p>
        </p:txBody>
      </p:sp>
      <p:sp>
        <p:nvSpPr>
          <p:cNvPr id="29" name="Szövegdoboz 28">
            <a:extLst>
              <a:ext uri="{FF2B5EF4-FFF2-40B4-BE49-F238E27FC236}">
                <a16:creationId xmlns:a16="http://schemas.microsoft.com/office/drawing/2014/main" id="{1ADF892A-979C-3CE1-3F63-3F15D023E1B8}"/>
              </a:ext>
            </a:extLst>
          </p:cNvPr>
          <p:cNvSpPr txBox="1"/>
          <p:nvPr/>
        </p:nvSpPr>
        <p:spPr>
          <a:xfrm>
            <a:off x="2854698" y="4879480"/>
            <a:ext cx="4821449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b="1" dirty="0"/>
              <a:t>In case you don’t have an account </a:t>
            </a:r>
          </a:p>
        </p:txBody>
      </p:sp>
      <p:sp>
        <p:nvSpPr>
          <p:cNvPr id="30" name="Nyíl: balra mutató 29">
            <a:extLst>
              <a:ext uri="{FF2B5EF4-FFF2-40B4-BE49-F238E27FC236}">
                <a16:creationId xmlns:a16="http://schemas.microsoft.com/office/drawing/2014/main" id="{338411C8-DD5F-6274-AEB9-F618CA26E70C}"/>
              </a:ext>
            </a:extLst>
          </p:cNvPr>
          <p:cNvSpPr/>
          <p:nvPr/>
        </p:nvSpPr>
        <p:spPr>
          <a:xfrm rot="463635">
            <a:off x="5050384" y="4732242"/>
            <a:ext cx="760919" cy="256376"/>
          </a:xfrm>
          <a:prstGeom prst="lef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Szövegdoboz 31">
            <a:extLst>
              <a:ext uri="{FF2B5EF4-FFF2-40B4-BE49-F238E27FC236}">
                <a16:creationId xmlns:a16="http://schemas.microsoft.com/office/drawing/2014/main" id="{83D56431-C1E6-B5A8-1E3C-5330227EE328}"/>
              </a:ext>
            </a:extLst>
          </p:cNvPr>
          <p:cNvSpPr txBox="1"/>
          <p:nvPr/>
        </p:nvSpPr>
        <p:spPr>
          <a:xfrm>
            <a:off x="5446538" y="2960984"/>
            <a:ext cx="40343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Option to make your password visible and to hide again</a:t>
            </a:r>
          </a:p>
        </p:txBody>
      </p:sp>
      <p:sp>
        <p:nvSpPr>
          <p:cNvPr id="26" name="Szövegdoboz 25">
            <a:extLst>
              <a:ext uri="{FF2B5EF4-FFF2-40B4-BE49-F238E27FC236}">
                <a16:creationId xmlns:a16="http://schemas.microsoft.com/office/drawing/2014/main" id="{F4294EDD-6802-275D-39C0-E96FD35529D9}"/>
              </a:ext>
            </a:extLst>
          </p:cNvPr>
          <p:cNvSpPr txBox="1"/>
          <p:nvPr/>
        </p:nvSpPr>
        <p:spPr>
          <a:xfrm>
            <a:off x="6915150" y="6032579"/>
            <a:ext cx="37528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In case you forgot your password, worry non!</a:t>
            </a:r>
          </a:p>
        </p:txBody>
      </p:sp>
    </p:spTree>
    <p:extLst>
      <p:ext uri="{BB962C8B-B14F-4D97-AF65-F5344CB8AC3E}">
        <p14:creationId xmlns:p14="http://schemas.microsoft.com/office/powerpoint/2010/main" val="3367883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6700" y="4420967"/>
            <a:ext cx="4311650" cy="1557493"/>
          </a:xfrm>
          <a:noFill/>
        </p:spPr>
        <p:txBody>
          <a:bodyPr anchor="t">
            <a:normAutofit/>
          </a:bodyPr>
          <a:lstStyle/>
          <a:p>
            <a:pPr algn="l"/>
            <a:r>
              <a:rPr lang="en-US" sz="3600" dirty="0">
                <a:solidFill>
                  <a:schemeClr val="tx1"/>
                </a:solidFill>
              </a:rPr>
              <a:t>User Control Panel (UCP)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57670" y="5085491"/>
            <a:ext cx="6210331" cy="2821841"/>
          </a:xfrm>
          <a:noFill/>
        </p:spPr>
        <p:txBody>
          <a:bodyPr anchor="t">
            <a:normAutofit/>
          </a:bodyPr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en-US" sz="1200" dirty="0">
                <a:solidFill>
                  <a:schemeClr val="tx1"/>
                </a:solidFill>
              </a:rPr>
              <a:t>Available after successful login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en-US" sz="1200" dirty="0">
                <a:solidFill>
                  <a:schemeClr val="tx1"/>
                </a:solidFill>
              </a:rPr>
              <a:t>You can see some General Account Information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en-US" sz="1200" dirty="0">
                <a:solidFill>
                  <a:schemeClr val="tx1"/>
                </a:solidFill>
              </a:rPr>
              <a:t>Download the latest version of the game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en-US" sz="1200" dirty="0">
                <a:solidFill>
                  <a:schemeClr val="tx1"/>
                </a:solidFill>
              </a:rPr>
              <a:t>Check older versions of the game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en-US" sz="1200" dirty="0">
                <a:solidFill>
                  <a:schemeClr val="tx1"/>
                </a:solidFill>
              </a:rPr>
              <a:t>As well as having the ability to read the Terms of Service and Privacy Policy in case there has been changes </a:t>
            </a:r>
          </a:p>
        </p:txBody>
      </p:sp>
      <p:grpSp>
        <p:nvGrpSpPr>
          <p:cNvPr id="14" name="Csoportba foglalás 13">
            <a:extLst>
              <a:ext uri="{FF2B5EF4-FFF2-40B4-BE49-F238E27FC236}">
                <a16:creationId xmlns:a16="http://schemas.microsoft.com/office/drawing/2014/main" id="{BCF3D9DE-0EAF-8989-6354-50DA20A78F24}"/>
              </a:ext>
            </a:extLst>
          </p:cNvPr>
          <p:cNvGrpSpPr/>
          <p:nvPr/>
        </p:nvGrpSpPr>
        <p:grpSpPr>
          <a:xfrm>
            <a:off x="1526286" y="-5962"/>
            <a:ext cx="9144000" cy="4354967"/>
            <a:chOff x="2286" y="-5962"/>
            <a:chExt cx="9144000" cy="4354967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141068B2-44E7-B184-25AA-DF745387D0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86" y="-5962"/>
              <a:ext cx="9144000" cy="4354967"/>
            </a:xfrm>
            <a:prstGeom prst="rect">
              <a:avLst/>
            </a:prstGeom>
          </p:spPr>
        </p:pic>
        <p:pic>
          <p:nvPicPr>
            <p:cNvPr id="13" name="Kép 12">
              <a:extLst>
                <a:ext uri="{FF2B5EF4-FFF2-40B4-BE49-F238E27FC236}">
                  <a16:creationId xmlns:a16="http://schemas.microsoft.com/office/drawing/2014/main" id="{418D8EEC-49F4-C0A8-38BF-909B8FE2AB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-1" t="2746" r="2051"/>
            <a:stretch/>
          </p:blipFill>
          <p:spPr>
            <a:xfrm>
              <a:off x="7311271" y="2382"/>
              <a:ext cx="1820029" cy="738646"/>
            </a:xfrm>
            <a:prstGeom prst="rect">
              <a:avLst/>
            </a:prstGeom>
          </p:spPr>
        </p:pic>
      </p:grpSp>
      <p:cxnSp>
        <p:nvCxnSpPr>
          <p:cNvPr id="18" name="Egyenes összekötő nyíllal 17">
            <a:extLst>
              <a:ext uri="{FF2B5EF4-FFF2-40B4-BE49-F238E27FC236}">
                <a16:creationId xmlns:a16="http://schemas.microsoft.com/office/drawing/2014/main" id="{90DC5109-26D4-118B-F9B2-59E6624946BB}"/>
              </a:ext>
            </a:extLst>
          </p:cNvPr>
          <p:cNvCxnSpPr>
            <a:cxnSpLocks/>
          </p:cNvCxnSpPr>
          <p:nvPr/>
        </p:nvCxnSpPr>
        <p:spPr>
          <a:xfrm>
            <a:off x="7201302" y="428625"/>
            <a:ext cx="257134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421CBC86-AA1A-8718-69AA-50C947CBBE9E}"/>
              </a:ext>
            </a:extLst>
          </p:cNvPr>
          <p:cNvSpPr txBox="1">
            <a:spLocks/>
          </p:cNvSpPr>
          <p:nvPr/>
        </p:nvSpPr>
        <p:spPr>
          <a:xfrm>
            <a:off x="4187072" y="288011"/>
            <a:ext cx="3862612" cy="33423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dirty="0"/>
              <a:t>I am going to talk about this in the next slide</a:t>
            </a:r>
          </a:p>
          <a:p>
            <a:pPr algn="just">
              <a:buFont typeface="Wingdings" panose="05000000000000000000" pitchFamily="2" charset="2"/>
              <a:buChar char="§"/>
            </a:pPr>
            <a:endParaRPr lang="en-US" sz="1050" dirty="0"/>
          </a:p>
        </p:txBody>
      </p:sp>
      <p:pic>
        <p:nvPicPr>
          <p:cNvPr id="34" name="Kép 33">
            <a:extLst>
              <a:ext uri="{FF2B5EF4-FFF2-40B4-BE49-F238E27FC236}">
                <a16:creationId xmlns:a16="http://schemas.microsoft.com/office/drawing/2014/main" id="{3C1475D8-C9AE-4815-B1E1-765A73486B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1302" y="4590328"/>
            <a:ext cx="3250628" cy="481035"/>
          </a:xfrm>
          <a:prstGeom prst="rect">
            <a:avLst/>
          </a:prstGeom>
        </p:spPr>
      </p:pic>
      <p:sp>
        <p:nvSpPr>
          <p:cNvPr id="40" name="Szövegdoboz 39">
            <a:extLst>
              <a:ext uri="{FF2B5EF4-FFF2-40B4-BE49-F238E27FC236}">
                <a16:creationId xmlns:a16="http://schemas.microsoft.com/office/drawing/2014/main" id="{C6B604BD-E6E3-5C71-42C5-BB7F8D23D091}"/>
              </a:ext>
            </a:extLst>
          </p:cNvPr>
          <p:cNvSpPr txBox="1"/>
          <p:nvPr/>
        </p:nvSpPr>
        <p:spPr>
          <a:xfrm>
            <a:off x="7429499" y="4267371"/>
            <a:ext cx="27908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600" b="1" dirty="0"/>
              <a:t>It is available on this site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Csoportba foglalás 14">
            <a:extLst>
              <a:ext uri="{FF2B5EF4-FFF2-40B4-BE49-F238E27FC236}">
                <a16:creationId xmlns:a16="http://schemas.microsoft.com/office/drawing/2014/main" id="{B1FEDBD9-6C35-361C-3168-EBC925D93279}"/>
              </a:ext>
            </a:extLst>
          </p:cNvPr>
          <p:cNvGrpSpPr/>
          <p:nvPr/>
        </p:nvGrpSpPr>
        <p:grpSpPr>
          <a:xfrm>
            <a:off x="6539408" y="0"/>
            <a:ext cx="5657850" cy="6858000"/>
            <a:chOff x="3486150" y="0"/>
            <a:chExt cx="5657850" cy="6858000"/>
          </a:xfrm>
        </p:grpSpPr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F1FF6CAC-82A5-1E4A-7857-A38A99BA00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669" r="21157"/>
            <a:stretch/>
          </p:blipFill>
          <p:spPr>
            <a:xfrm>
              <a:off x="3486150" y="0"/>
              <a:ext cx="5657850" cy="6858000"/>
            </a:xfrm>
            <a:prstGeom prst="rect">
              <a:avLst/>
            </a:prstGeom>
          </p:spPr>
        </p:pic>
        <p:sp>
          <p:nvSpPr>
            <p:cNvPr id="13" name="Téglalap 12">
              <a:extLst>
                <a:ext uri="{FF2B5EF4-FFF2-40B4-BE49-F238E27FC236}">
                  <a16:creationId xmlns:a16="http://schemas.microsoft.com/office/drawing/2014/main" id="{E5C9D6EC-88F2-E298-9392-69C02734811D}"/>
                </a:ext>
              </a:extLst>
            </p:cNvPr>
            <p:cNvSpPr/>
            <p:nvPr/>
          </p:nvSpPr>
          <p:spPr>
            <a:xfrm>
              <a:off x="5657850" y="226209"/>
              <a:ext cx="2790825" cy="5056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en-US" sz="16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78868" y="24063"/>
            <a:ext cx="4600575" cy="1143000"/>
          </a:xfrm>
        </p:spPr>
        <p:txBody>
          <a:bodyPr>
            <a:normAutofit/>
          </a:bodyPr>
          <a:lstStyle/>
          <a:p>
            <a:r>
              <a:rPr lang="en-US" sz="2800" noProof="0" dirty="0">
                <a:solidFill>
                  <a:schemeClr val="bg1"/>
                </a:solidFill>
              </a:rPr>
              <a:t>Account Settings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0" y="1903773"/>
            <a:ext cx="3486150" cy="46198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1800" dirty="0"/>
              <a:t>Username changing option</a:t>
            </a:r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81BFD845-8CE8-DEC0-8484-E8624F4BD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351" y="226209"/>
            <a:ext cx="3966667" cy="461982"/>
          </a:xfrm>
          <a:prstGeom prst="rect">
            <a:avLst/>
          </a:prstGeom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C17349CE-DCFC-15F8-84EC-04D9D75A7DB0}"/>
              </a:ext>
            </a:extLst>
          </p:cNvPr>
          <p:cNvSpPr txBox="1"/>
          <p:nvPr/>
        </p:nvSpPr>
        <p:spPr>
          <a:xfrm>
            <a:off x="1821535" y="688191"/>
            <a:ext cx="2942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It is available on this site</a:t>
            </a:r>
          </a:p>
        </p:txBody>
      </p:sp>
      <p:sp>
        <p:nvSpPr>
          <p:cNvPr id="18" name="Szövegdoboz 17">
            <a:extLst>
              <a:ext uri="{FF2B5EF4-FFF2-40B4-BE49-F238E27FC236}">
                <a16:creationId xmlns:a16="http://schemas.microsoft.com/office/drawing/2014/main" id="{BACEA9E2-B426-EA2C-38F6-0C9E682C7A91}"/>
              </a:ext>
            </a:extLst>
          </p:cNvPr>
          <p:cNvSpPr txBox="1"/>
          <p:nvPr/>
        </p:nvSpPr>
        <p:spPr>
          <a:xfrm>
            <a:off x="1524000" y="3507594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Password changing option</a:t>
            </a:r>
          </a:p>
        </p:txBody>
      </p:sp>
      <p:sp>
        <p:nvSpPr>
          <p:cNvPr id="20" name="Szövegdoboz 19">
            <a:extLst>
              <a:ext uri="{FF2B5EF4-FFF2-40B4-BE49-F238E27FC236}">
                <a16:creationId xmlns:a16="http://schemas.microsoft.com/office/drawing/2014/main" id="{AE78E291-1F8D-0232-749F-6235E86546B2}"/>
              </a:ext>
            </a:extLst>
          </p:cNvPr>
          <p:cNvSpPr txBox="1"/>
          <p:nvPr/>
        </p:nvSpPr>
        <p:spPr>
          <a:xfrm>
            <a:off x="1523999" y="5447893"/>
            <a:ext cx="39383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(Proceed with Caution) Account Deactivation option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72E1BE-67FC-4BE1-909E-449AF46A2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8" y="1006052"/>
            <a:ext cx="5334001" cy="1371600"/>
          </a:xfrm>
        </p:spPr>
        <p:txBody>
          <a:bodyPr/>
          <a:lstStyle/>
          <a:p>
            <a:r>
              <a:rPr lang="hu-HU" dirty="0" err="1"/>
              <a:t>Source</a:t>
            </a:r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66317D2-2653-4C46-95B1-B583BD6A33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1999" y="2068228"/>
            <a:ext cx="5334001" cy="1828800"/>
          </a:xfrm>
        </p:spPr>
        <p:txBody>
          <a:bodyPr/>
          <a:lstStyle/>
          <a:p>
            <a:r>
              <a:rPr lang="hu-HU" dirty="0"/>
              <a:t>The Game is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Delve </a:t>
            </a:r>
            <a:r>
              <a:rPr lang="hu-HU" dirty="0" err="1"/>
              <a:t>by</a:t>
            </a:r>
            <a:r>
              <a:rPr lang="hu-HU" dirty="0"/>
              <a:t> </a:t>
            </a:r>
            <a:r>
              <a:rPr lang="hu-HU" dirty="0" err="1"/>
              <a:t>Blackwell</a:t>
            </a:r>
            <a:r>
              <a:rPr lang="hu-HU" dirty="0"/>
              <a:t> </a:t>
            </a:r>
            <a:r>
              <a:rPr lang="hu-HU" dirty="0" err="1"/>
              <a:t>games</a:t>
            </a:r>
            <a:r>
              <a:rPr lang="hu-HU" dirty="0"/>
              <a:t>, </a:t>
            </a:r>
            <a:r>
              <a:rPr lang="hu-HU" dirty="0" err="1"/>
              <a:t>witch</a:t>
            </a:r>
            <a:r>
              <a:rPr lang="hu-HU" dirty="0"/>
              <a:t> is a </a:t>
            </a:r>
            <a:r>
              <a:rPr lang="hu-HU" dirty="0" err="1"/>
              <a:t>tabletop</a:t>
            </a:r>
            <a:r>
              <a:rPr lang="hu-HU" dirty="0"/>
              <a:t> </a:t>
            </a:r>
            <a:r>
              <a:rPr lang="hu-HU" dirty="0" err="1"/>
              <a:t>pen</a:t>
            </a:r>
            <a:r>
              <a:rPr lang="hu-HU" dirty="0"/>
              <a:t>-and- </a:t>
            </a:r>
            <a:r>
              <a:rPr lang="hu-HU" dirty="0" err="1"/>
              <a:t>paper</a:t>
            </a:r>
            <a:r>
              <a:rPr lang="hu-HU" dirty="0"/>
              <a:t> game </a:t>
            </a:r>
            <a:r>
              <a:rPr lang="hu-HU" dirty="0" err="1"/>
              <a:t>about</a:t>
            </a:r>
            <a:r>
              <a:rPr lang="hu-HU" dirty="0"/>
              <a:t> building a </a:t>
            </a:r>
            <a:r>
              <a:rPr lang="hu-HU" dirty="0" err="1"/>
              <a:t>fort</a:t>
            </a:r>
            <a:r>
              <a:rPr lang="hu-HU" dirty="0"/>
              <a:t> and </a:t>
            </a:r>
            <a:r>
              <a:rPr lang="hu-HU" dirty="0" err="1"/>
              <a:t>finding</a:t>
            </a:r>
            <a:r>
              <a:rPr lang="hu-HU" dirty="0"/>
              <a:t> </a:t>
            </a:r>
            <a:r>
              <a:rPr lang="hu-HU" dirty="0" err="1"/>
              <a:t>tresure</a:t>
            </a:r>
            <a:r>
              <a:rPr lang="hu-HU" dirty="0"/>
              <a:t>.</a:t>
            </a:r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749C9C33-313B-4CFB-8A01-D3AFDEB3D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3882" y="594679"/>
            <a:ext cx="3990985" cy="5668641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chemeClr val="bg1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8DB3E8B5-B07F-42FD-9491-6496FB250A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416" y="500362"/>
            <a:ext cx="3570314" cy="169232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4" name="Kép 13">
            <a:extLst>
              <a:ext uri="{FF2B5EF4-FFF2-40B4-BE49-F238E27FC236}">
                <a16:creationId xmlns:a16="http://schemas.microsoft.com/office/drawing/2014/main" id="{448DBDF1-6652-41BA-BF63-E2A3776EF2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847" y="3938820"/>
            <a:ext cx="5416306" cy="2145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579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88916B4-C182-44E7-82C1-DCB83EB4D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Gamaeplay</a:t>
            </a:r>
            <a:endParaRPr lang="hu-HU" dirty="0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D5EB9C5-DDCF-4117-85C8-9CA1812B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82208" y="1938338"/>
            <a:ext cx="4588931" cy="576262"/>
          </a:xfrm>
        </p:spPr>
        <p:txBody>
          <a:bodyPr/>
          <a:lstStyle/>
          <a:p>
            <a:r>
              <a:rPr lang="hu-HU" dirty="0" err="1"/>
              <a:t>Original</a:t>
            </a:r>
            <a:endParaRPr lang="hu-HU" dirty="0"/>
          </a:p>
        </p:txBody>
      </p:sp>
      <p:pic>
        <p:nvPicPr>
          <p:cNvPr id="8" name="Tartalom helye 7">
            <a:extLst>
              <a:ext uri="{FF2B5EF4-FFF2-40B4-BE49-F238E27FC236}">
                <a16:creationId xmlns:a16="http://schemas.microsoft.com/office/drawing/2014/main" id="{E1B091DD-8899-493B-A737-38B1E3494D3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15" y="2503988"/>
            <a:ext cx="5148762" cy="3861572"/>
          </a:xfrm>
        </p:spPr>
      </p:pic>
      <p:sp>
        <p:nvSpPr>
          <p:cNvPr id="5" name="Szöveg helye 4">
            <a:extLst>
              <a:ext uri="{FF2B5EF4-FFF2-40B4-BE49-F238E27FC236}">
                <a16:creationId xmlns:a16="http://schemas.microsoft.com/office/drawing/2014/main" id="{3FB24FAE-9D36-4B53-961E-81020588BF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63391" y="1941348"/>
            <a:ext cx="4604280" cy="576262"/>
          </a:xfrm>
        </p:spPr>
        <p:txBody>
          <a:bodyPr/>
          <a:lstStyle/>
          <a:p>
            <a:r>
              <a:rPr lang="hu-HU" dirty="0"/>
              <a:t>Delve-PCG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04FD03F7-5CF4-458E-B4FE-B3DBB8FE944D}"/>
              </a:ext>
            </a:extLst>
          </p:cNvPr>
          <p:cNvSpPr txBox="1"/>
          <p:nvPr/>
        </p:nvSpPr>
        <p:spPr>
          <a:xfrm>
            <a:off x="1355614" y="6390085"/>
            <a:ext cx="30117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800" i="1" dirty="0" err="1"/>
              <a:t>Src</a:t>
            </a:r>
            <a:r>
              <a:rPr lang="hu-HU" sz="800" i="1" dirty="0"/>
              <a:t>.: </a:t>
            </a:r>
            <a:r>
              <a:rPr lang="hu-HU" sz="800" i="1" dirty="0">
                <a:effectLst/>
                <a:latin typeface="gg sans"/>
              </a:rPr>
              <a:t>„</a:t>
            </a:r>
            <a:r>
              <a:rPr lang="hu-HU" sz="800" b="0" i="1" dirty="0" err="1">
                <a:effectLst/>
                <a:latin typeface="gg sans"/>
              </a:rPr>
              <a:t>devilkept</a:t>
            </a:r>
            <a:r>
              <a:rPr lang="hu-HU" sz="800" i="1" dirty="0">
                <a:effectLst/>
                <a:latin typeface="gg sans"/>
              </a:rPr>
              <a:t>”</a:t>
            </a:r>
            <a:r>
              <a:rPr lang="hu-HU" sz="800" b="0" i="1" dirty="0">
                <a:effectLst/>
                <a:latin typeface="gg sans"/>
              </a:rPr>
              <a:t> </a:t>
            </a:r>
            <a:r>
              <a:rPr lang="hu-HU" sz="800" b="0" i="1" dirty="0" err="1">
                <a:effectLst/>
                <a:latin typeface="gg sans"/>
              </a:rPr>
              <a:t>at</a:t>
            </a:r>
            <a:r>
              <a:rPr lang="hu-HU" sz="800" b="0" i="1" dirty="0">
                <a:effectLst/>
                <a:latin typeface="gg sans"/>
              </a:rPr>
              <a:t> </a:t>
            </a:r>
            <a:r>
              <a:rPr lang="hu-HU" sz="800" b="0" i="1" dirty="0" err="1">
                <a:effectLst/>
                <a:latin typeface="gg sans"/>
              </a:rPr>
              <a:t>Blackwell</a:t>
            </a:r>
            <a:r>
              <a:rPr lang="hu-HU" sz="800" b="0" i="1" dirty="0">
                <a:effectLst/>
                <a:latin typeface="gg sans"/>
              </a:rPr>
              <a:t> </a:t>
            </a:r>
            <a:r>
              <a:rPr lang="hu-HU" sz="800" b="0" i="1" dirty="0" err="1">
                <a:effectLst/>
                <a:latin typeface="gg sans"/>
              </a:rPr>
              <a:t>Games</a:t>
            </a:r>
            <a:r>
              <a:rPr lang="hu-HU" sz="800" b="0" i="1" dirty="0">
                <a:effectLst/>
                <a:latin typeface="gg sans"/>
              </a:rPr>
              <a:t> </a:t>
            </a:r>
            <a:r>
              <a:rPr lang="hu-HU" sz="800" b="0" i="1" dirty="0" err="1">
                <a:effectLst/>
                <a:latin typeface="gg sans"/>
              </a:rPr>
              <a:t>Discord</a:t>
            </a:r>
            <a:r>
              <a:rPr lang="hu-HU" sz="800" b="0" i="1" dirty="0">
                <a:effectLst/>
                <a:latin typeface="gg sans"/>
              </a:rPr>
              <a:t> </a:t>
            </a:r>
            <a:r>
              <a:rPr lang="hu-HU" sz="800" b="0" i="1" dirty="0" err="1">
                <a:effectLst/>
                <a:latin typeface="gg sans"/>
              </a:rPr>
              <a:t>group</a:t>
            </a:r>
            <a:endParaRPr lang="hu-HU" sz="800" i="1" dirty="0"/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224CF179-0589-4F48-A49C-633A5E32DC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766" y="2692614"/>
            <a:ext cx="6003063" cy="348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58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94F075-E51D-4276-AD36-6A794F7A2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Building </a:t>
            </a:r>
            <a:r>
              <a:rPr lang="hu-HU" dirty="0" err="1"/>
              <a:t>the</a:t>
            </a:r>
            <a:r>
              <a:rPr lang="hu-HU" dirty="0"/>
              <a:t> game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77E4EF2-5313-47D2-8991-F0D141B7B0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6988" y="1295400"/>
            <a:ext cx="5943601" cy="5181600"/>
          </a:xfrm>
        </p:spPr>
        <p:txBody>
          <a:bodyPr>
            <a:normAutofit lnSpcReduction="10000"/>
          </a:bodyPr>
          <a:lstStyle/>
          <a:p>
            <a:r>
              <a:rPr lang="hu-HU" dirty="0"/>
              <a:t>Art:</a:t>
            </a:r>
          </a:p>
          <a:p>
            <a:pPr lvl="1"/>
            <a:r>
              <a:rPr lang="hu-HU" b="0" i="0" dirty="0">
                <a:solidFill>
                  <a:srgbClr val="FFFFFF"/>
                </a:solidFill>
                <a:effectLst/>
                <a:latin typeface="Sora"/>
              </a:rPr>
              <a:t>@marceles</a:t>
            </a:r>
          </a:p>
          <a:p>
            <a:pPr lvl="1"/>
            <a:r>
              <a:rPr lang="hu-HU" b="0" i="0" dirty="0">
                <a:solidFill>
                  <a:srgbClr val="FFFFFF"/>
                </a:solidFill>
                <a:effectLst/>
                <a:latin typeface="Sora"/>
              </a:rPr>
              <a:t>Temesi Szabolcs István</a:t>
            </a:r>
          </a:p>
          <a:p>
            <a:pPr marL="457200" lvl="1" indent="0">
              <a:buNone/>
            </a:pPr>
            <a:endParaRPr lang="hu-HU" dirty="0">
              <a:solidFill>
                <a:srgbClr val="FFFFFF"/>
              </a:solidFill>
              <a:effectLst/>
              <a:latin typeface="Sora"/>
            </a:endParaRPr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  <a:p>
            <a:r>
              <a:rPr lang="hu-HU" dirty="0"/>
              <a:t>Music:</a:t>
            </a:r>
          </a:p>
          <a:p>
            <a:pPr lvl="1"/>
            <a:r>
              <a:rPr lang="hu-HU" b="0" i="0" u="sng" dirty="0">
                <a:solidFill>
                  <a:srgbClr val="9198A1"/>
                </a:solidFill>
                <a:effectLst/>
                <a:latin typeface="-apple-system"/>
                <a:hlinkClick r:id="rId2"/>
              </a:rPr>
              <a:t>Soundimage.org</a:t>
            </a:r>
            <a:endParaRPr lang="hu-HU" u="sng" dirty="0">
              <a:solidFill>
                <a:srgbClr val="9198A1"/>
              </a:solidFill>
              <a:effectLst/>
              <a:latin typeface="-apple-system"/>
            </a:endParaRPr>
          </a:p>
          <a:p>
            <a:pPr lvl="1"/>
            <a:r>
              <a:rPr lang="hu-HU" b="0" i="0" u="sng" dirty="0">
                <a:solidFill>
                  <a:srgbClr val="9198A1"/>
                </a:solidFill>
                <a:effectLst/>
                <a:latin typeface="-apple-system"/>
                <a:hlinkClick r:id="rId3"/>
              </a:rPr>
              <a:t>scottbuckley.com</a:t>
            </a:r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7E829D7-EFD2-49E3-8000-10BD6DCBD42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hu-HU" dirty="0" err="1"/>
              <a:t>We</a:t>
            </a:r>
            <a:r>
              <a:rPr lang="en-AU" dirty="0"/>
              <a:t> used various free and </a:t>
            </a:r>
            <a:r>
              <a:rPr lang="en-AU" dirty="0" err="1"/>
              <a:t>payed</a:t>
            </a:r>
            <a:r>
              <a:rPr lang="en-AU" dirty="0"/>
              <a:t> sources for assets.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04A02AFF-F6C3-4BA3-99A1-2DF0A7D52E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8644" y="767329"/>
            <a:ext cx="688470" cy="68847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9F964705-CD91-4EA8-B12E-E80C2CDC4D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5715" y="1600200"/>
            <a:ext cx="3400178" cy="3267076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C058E3C6-8006-4C6B-8BD7-EE45468B185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6988" y="2193595"/>
            <a:ext cx="3291380" cy="2312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45116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zita">
  <a:themeElements>
    <a:clrScheme name="Szita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Szita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zit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Szita</Template>
  <TotalTime>87</TotalTime>
  <Words>276</Words>
  <Application>Microsoft Office PowerPoint</Application>
  <PresentationFormat>Szélesvásznú</PresentationFormat>
  <Paragraphs>67</Paragraphs>
  <Slides>9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9</vt:i4>
      </vt:variant>
    </vt:vector>
  </HeadingPairs>
  <TitlesOfParts>
    <vt:vector size="16" baseType="lpstr">
      <vt:lpstr>-apple-system</vt:lpstr>
      <vt:lpstr>Arial</vt:lpstr>
      <vt:lpstr>Century Gothic</vt:lpstr>
      <vt:lpstr>gg sans</vt:lpstr>
      <vt:lpstr>Sora</vt:lpstr>
      <vt:lpstr>Wingdings</vt:lpstr>
      <vt:lpstr>Szita</vt:lpstr>
      <vt:lpstr>End of Year project</vt:lpstr>
      <vt:lpstr>Project information</vt:lpstr>
      <vt:lpstr>Registration page</vt:lpstr>
      <vt:lpstr>Login &amp; Password reset page</vt:lpstr>
      <vt:lpstr>User Control Panel (UCP)</vt:lpstr>
      <vt:lpstr>Account Settings</vt:lpstr>
      <vt:lpstr>Source</vt:lpstr>
      <vt:lpstr>Gamaeplay</vt:lpstr>
      <vt:lpstr>Building the game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 of Year project</dc:title>
  <dc:creator>szabolcs temesi</dc:creator>
  <cp:lastModifiedBy>szabolcs temesi</cp:lastModifiedBy>
  <cp:revision>10</cp:revision>
  <dcterms:created xsi:type="dcterms:W3CDTF">2025-05-26T19:10:53Z</dcterms:created>
  <dcterms:modified xsi:type="dcterms:W3CDTF">2025-05-26T21:15:18Z</dcterms:modified>
</cp:coreProperties>
</file>